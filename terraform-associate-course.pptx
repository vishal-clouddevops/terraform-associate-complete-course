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Terraform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Exam — Complete Study Course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Progressive Projects · Full Theory · Exam-Ready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</a:t>
            </a:r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</a:t>
            </a:r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</a:t>
            </a:r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account required for Projects 01–05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Certified: Terraform Associate (003)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Infrastructure as Code (IaC)?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4114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Old Way (Manual)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around AWS Console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what was done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dev vs prod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 process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reproduce exactly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drift over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77240"/>
            <a:ext cx="4114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New Way (Terraform)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.tf files — code is the config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Git history of every change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= staging = prod (identical)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→ review → apply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→ identical result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values managed safely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Core Benefits — Why It Matters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" cy="44851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8595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Idempotency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same config twice produces the same result — no duplicate resources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Version Control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infrastructure change tracked in Git — full audit trail, rollback possible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Consistency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staging, and prod are built from the same config — no environment drift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Reusability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let teams share battle-tested configurations across projects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Automation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run terraform apply on every merge — zero manual steps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 tip: Idempotency means 'running twice = same result'. This is a key IaC concept.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vs Other IaC Tools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tfstate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JSON/YAML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ARM/Bicep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JSON/Bicep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Pulumi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tfstate-like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Python/JS/Go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Chef/Puppet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Ruby DSL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Terraform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 terraform init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3441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providers &amp; modules, configure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1945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19456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2286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✏️  terraform fmt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" y="27614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.tf files to canonical style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36118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1188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3703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terraform validate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" y="41788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HCL syntax and internal consistency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7772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77724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terraform plan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13441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changes — nothing is touched yet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1945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19456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2286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 terraform apply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65192" y="27614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plan — creates/updates/destroys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1188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3703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🗑️  terraform destroy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65192" y="41788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managed resources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&amp; Version Constraints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are plugins. Version constraints pin exact provider versions.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required_version = "&gt;= 1.5.0"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required_providers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 =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 = "hashicorp/aws"   # registry.terraform.io/hashicorp/aws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5.0"          # &gt;= 5.0, &lt; 6.0 (pessimistic ~&gt;)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"aws"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"us-east-1"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~&gt; 5.0 means &gt;= 5.0, &lt; 6.0. Commit .terraform.lock.hcl to Git!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 Quick Reference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8686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"us-east-1"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Names, IDs, regions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Counts, ports, sizes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flags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list(string)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["a", "b", "c"]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var.list[0]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Ordered, same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set(string)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{"a", "b"}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toset(var.list)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Unique, unordered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map(string)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{key = "val"}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var.map["key"]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Key-value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object({})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{name=string, age=number}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var.obj.name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named attrs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(avoid!)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Precedence (Lowest → Highest)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14600" y="804672"/>
            <a:ext cx="3657600" cy="530352"/>
          </a:xfrm>
          <a:prstGeom prst="rect">
            <a:avLst/>
          </a:prstGeom>
          <a:solidFill>
            <a:srgbClr val="B0D4E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14600" y="80467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Default in variable {} block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1463040"/>
            <a:ext cx="4389120" cy="530352"/>
          </a:xfrm>
          <a:prstGeom prst="rect">
            <a:avLst/>
          </a:prstGeom>
          <a:solidFill>
            <a:srgbClr val="7EC8E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48840" y="146304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terraform.tfvars (auto-loaded)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83080" y="2121408"/>
            <a:ext cx="5120640" cy="530352"/>
          </a:xfrm>
          <a:prstGeom prst="rect">
            <a:avLst/>
          </a:prstGeom>
          <a:solidFill>
            <a:srgbClr val="4EB4D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212140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*.auto.tfvars (alphabetical order)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17320" y="2779776"/>
            <a:ext cx="5852160" cy="530352"/>
          </a:xfrm>
          <a:prstGeom prst="rect">
            <a:avLst/>
          </a:prstGeom>
          <a:solidFill>
            <a:srgbClr val="1C9CB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2779776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-var-file='custom.tfvars' flag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1560" y="3438144"/>
            <a:ext cx="6583680" cy="530352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43814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-var='key=value' CLI flag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096512"/>
            <a:ext cx="7315200" cy="53035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0965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TF_VAR_&lt;name&gt; environment variable  ← HIGHEST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— Exposing Values After Apply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display values, feed CI/CD scripts, and connect modules.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"bucket_arn"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ARN of the S3 bucket"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aws_s3_bucket.app.arn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"db_password"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= var.db_password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sensitive = true   # hidden in terminal, still in state!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outputs: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               # all outputs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bucket_arn     # one output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-json          # machine-readable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-raw bucket_arn  # no quotes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— The Source of Truth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4114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State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config resources to real infra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metadata (dependencies)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terraform plan diff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performance (avoids API calls)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sensitive values — ENCRYPT IT!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terraform.tfstate (JSON)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77240"/>
            <a:ext cx="4114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Commands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list — all resources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show &lt;addr&gt; — details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mv &lt;old&gt; &lt;new&gt; — rename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rm &lt;addr&gt; — untrack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pull — JSON download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-replace=&lt;addr&gt; — force recreate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Backend: S3 + DynamoDB State Locking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state remotely for team collaboration and locking.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backend.tf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"s3"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         = "my-terraform-state-bucket"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        = "project/terraform.tfstate"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        = "us-east-1"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encrypt        = true                    # AES-256 encryption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dynamodb_table = "terraform-state-lock"  # prevents concurrent apply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Migrate existing state to new backend: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 -migrate-state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DynamoDB table needs 'LockID' (type S) as the hash key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Meta-Arguments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how Terraform creates, updates, and destroys resources.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...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lifecycle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create_before_destroy = true    # new before old (zero downtime)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prevent_destroy       = true    # ERROR if plan includes destroy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ignore_changes        = [tags]  # ignore external tag changes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ignore_changes        = all     # ignore ALL external changes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Force recreation (replaces deprecated 'taint'):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-replace="aws_instance.web"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count.index — Create Multiple Resources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creates N identical copies. count.index (0-based) identifies each.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"aws_iam_user" "team"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= 3                                        # 3 users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= "team-user-${count.index + 1}"          # user-1, user-2, user-3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Driven by list length: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"envs"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= length(var.environments)               # list = ["dev","staging","prod"]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"app-${var.environments[count.index]}" # app-dev, app-staging...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Reference: aws_iam_user.team[0].name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Splat:     aws_iam_user.team[*].name   → ["user-1","user-2","user-3"]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Count=0 trick: count = var.create ? 1 : 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— Map-Based Resource Creation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uses KEYS not indices — safe to remove any item.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a set: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"aws_iam_user" "devs"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toset(["alice", "bob", "charlie"])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each.key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Addresses: aws_iam_user.devs["alice"], ["bob"], ["charlie"]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a map of objects: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"buckets"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var.buckets              # map(object({...}))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  = each.value.bucket_name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= { Name = each.key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Filtered for_each: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for k, v in var.buckets : k =&gt; v if v.versioning 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for_each vs count: remove 'staging' from a list — count destroys all after it; for_each only removes staging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Blocks — Generate Repeated Nested Blocks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dynamic to generate nested blocks (ingress, egress, policy, etc.) from a list.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"ingress_rules"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list(object({ port=number; cidr_blocks=list(string) }))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"aws_security_group" "app"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"app-sg"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dynamic "ingress"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for_each = var.ingress_rules           # list or map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from_port   = ingress.value.port     # ingress = iterator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to_port     = ingress.value.port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protocol    = "tcp"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cidr_blocks = ingress.value.cidr_blocks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dynamic generates nested BLOCKS in one resource. for_each on resource creates multiple RESOURCES.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Expressions — Environment-Aware Logic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Ternary: condition ? value_if_true : value_if_false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is_prod        = var.environment == "prod"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 = local.is_prod ? "t3.medium" : "t2.micro"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instance_count = local.is_prod ? 3 : 1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resource only in prod (count=0 trick):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"aws_cloudwatch_metric_alarm" "cpu"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= local.is_prod ? 1 : 0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...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Multi-option with lookup():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= lookup({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prod="t3.large", staging="t3.small", dev="t2.micro"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var.environment, "t2.micro")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— Reusable Infrastructure Packages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14800" cy="2926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77824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              ← ROOT MODULE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outputs.tf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modules/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vpc/          ← CHILD MODULE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main.tf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variables.tf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outputs.tf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7498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Source Types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70432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170432"/>
            <a:ext cx="64008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197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4630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"./modules/vpc"  No version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56232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56232"/>
            <a:ext cx="64008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1488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"hashicorp/vpc/aws"  version = required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542032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542032"/>
            <a:ext cx="64008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569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8346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"github.com/org/repo"  ?ref=v1.0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27832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27832"/>
            <a:ext cx="64008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2552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URL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5204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"git::https://..."  ?ref=tag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module.&lt;name&gt;.&lt;output_name&gt;  |  terraform init downloads modules  |  Local modules don't support version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Import — Bring Existing Infra Under Terraform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CLI method (all versions) vs Modern declarative block (v1.5+)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CLASSIC: terraform import &lt;address&gt; &lt;id&gt;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aws_s3_bucket.app my-existing-bucket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aws_instance.web i-1234567890abcdef0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MODERN (Terraform 1.5+): import {} block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= aws_s3_bucket.app       # resource address in your config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= "my-existing-bucket"    # real resource ID in AWS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run: terraform plan &amp;&amp; terraform apply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AUTO-GENERATE config (Terraform 1.6+):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-generate-config-out=generated.tf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After import: run terraform plan — should show 'No changes'. Import does NOT auto-generate .tf files (classic).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— Isolated State Environments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" cy="44851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8595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 new dev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switches to 'dev' workspace with its own state file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 list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workspaces. * marks the currently active one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 select prod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an existing workspace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terraform.workspace  built-in value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config: bucket = "${var.project}-${terraform.workspace}-data"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workspaces vs directories: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Workspaces: same config, different env sizing  |  Directories: significantly different configs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Default workspace is always named 'default'. Each workspace = isolated state.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Block, check Block &amp; Conditions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in Terraform 1.1–1.5 for safer refactoring and validation.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0A22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MOVED BLOCK — rename without destroy (Terraform 1.1+)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moved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= aws_s3_bucket.app           # old name in state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  = aws_s3_bucket.application   # new name in config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BLOCK — non-fatal warning (Terraform 1.5+)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"name_is_lowercase"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    = var.name == lower(var.name)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 "Name should be lowercase."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PRECONDITION/POSTCONDITION (Terraform 1.2+)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 { precondition  { condition = ...; error_message = "..." }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FFF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 { postcondition { condition = self.status == "active" } 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check = warning only (non-fatal). precondition/postcondition = fatal errors.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Provisioners — Last Resort Only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4114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Provisioners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local-exec: runs command on Terraform machine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remote-exec: runs commands on remote server (SSH/WinRM)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copies files to remote server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= destroy: runs on resource deletion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'self' to reference parent resource attrs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leave state in unknown condition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77240"/>
            <a:ext cx="4114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Instead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user_data for EC2 bootstrapping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Systems Manager (SSM) for remote commands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Packer to build pre-configured AMIs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called separately after Terraform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Cloud-init for Linux initialization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 Provisioners are not idempotent — avoid!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Projects — Complete Learning Path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49808"/>
            <a:ext cx="2103120" cy="2011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749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" y="96926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Terraform 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" y="143560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init/plan/apply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74980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749808"/>
            <a:ext cx="2103120" cy="2011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749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86584" y="96926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Resources &amp; Refs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86584" y="143560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depends_on, jsonencode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74980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749808"/>
            <a:ext cx="2103120" cy="2011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749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81144" y="96926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Variables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81144" y="143560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string/number/bool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74980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749808"/>
            <a:ext cx="2103120" cy="2011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749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75704" y="96926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Types + tfvars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75704" y="143560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list/map/object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180136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160" y="1801368"/>
            <a:ext cx="2103120" cy="2011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" y="1801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" y="202082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" y="24871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sensitive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31720" y="180136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31720" y="1801368"/>
            <a:ext cx="21031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9"/>
          <p:cNvSpPr/>
          <p:nvPr/>
        </p:nvSpPr>
        <p:spPr>
          <a:xfrm>
            <a:off x="2331720" y="1801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86584" y="202082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AWS Resource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86584" y="24871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aws_s3_bucket, tags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26280" y="180136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26280" y="1801368"/>
            <a:ext cx="21031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1801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81144" y="202082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Vars + Outputs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81144" y="24871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default_tags, random_id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20840" y="180136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20840" y="1801368"/>
            <a:ext cx="21031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1801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75704" y="202082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 Workflow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75704" y="24871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fmt/validate/plan/apply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7160" y="285292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37160" y="2852928"/>
            <a:ext cx="21031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6" name="Text 44"/>
          <p:cNvSpPr/>
          <p:nvPr/>
        </p:nvSpPr>
        <p:spPr>
          <a:xfrm>
            <a:off x="137160" y="28529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92024" y="307238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92024" y="353872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list/show/mv/rm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331720" y="285292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331720" y="2852928"/>
            <a:ext cx="21031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1" name="Text 49"/>
          <p:cNvSpPr/>
          <p:nvPr/>
        </p:nvSpPr>
        <p:spPr>
          <a:xfrm>
            <a:off x="2331720" y="28529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386584" y="307238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386584" y="353872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prevent_destroy, ignore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26280" y="285292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26280" y="2852928"/>
            <a:ext cx="21031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6" name="Text 54"/>
          <p:cNvSpPr/>
          <p:nvPr/>
        </p:nvSpPr>
        <p:spPr>
          <a:xfrm>
            <a:off x="4526280" y="28529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81144" y="307238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Locals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81144" y="353872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locals, merge()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720840" y="285292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720840" y="2852928"/>
            <a:ext cx="21031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1" name="Text 59"/>
          <p:cNvSpPr/>
          <p:nvPr/>
        </p:nvSpPr>
        <p:spPr>
          <a:xfrm>
            <a:off x="6720840" y="28529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775704" y="307238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Backend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75704" y="353872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DynamoDB locking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37160" y="390448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37160" y="3904488"/>
            <a:ext cx="21031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6" name="Text 64"/>
          <p:cNvSpPr/>
          <p:nvPr/>
        </p:nvSpPr>
        <p:spPr>
          <a:xfrm>
            <a:off x="137160" y="3904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92024" y="41239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92024" y="4590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workspace, lookup()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331720" y="390448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331720" y="390448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1" name="Text 69"/>
          <p:cNvSpPr/>
          <p:nvPr/>
        </p:nvSpPr>
        <p:spPr>
          <a:xfrm>
            <a:off x="2331720" y="3904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386584" y="41239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count.index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2386584" y="4590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splat [*]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26280" y="390448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526280" y="390448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6" name="Text 74"/>
          <p:cNvSpPr/>
          <p:nvPr/>
        </p:nvSpPr>
        <p:spPr>
          <a:xfrm>
            <a:off x="4526280" y="3904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P15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581144" y="41239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&amp; Maps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81144" y="4590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each.key/value, toset()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720840" y="390448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720840" y="390448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1" name="Text 79"/>
          <p:cNvSpPr/>
          <p:nvPr/>
        </p:nvSpPr>
        <p:spPr>
          <a:xfrm>
            <a:off x="6720840" y="3904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P16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775704" y="41239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775704" y="4590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? : , count=0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37160" y="495604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137160" y="495604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6" name="Text 84"/>
          <p:cNvSpPr/>
          <p:nvPr/>
        </p:nvSpPr>
        <p:spPr>
          <a:xfrm>
            <a:off x="137160" y="4956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92024" y="51755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Blocks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192024" y="564184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content{}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331720" y="495604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2331720" y="495604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1" name="Text 89"/>
          <p:cNvSpPr/>
          <p:nvPr/>
        </p:nvSpPr>
        <p:spPr>
          <a:xfrm>
            <a:off x="2331720" y="4956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P18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2386584" y="51755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2386584" y="564184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module{}, source types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526280" y="495604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526280" y="495604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6" name="Text 94"/>
          <p:cNvSpPr/>
          <p:nvPr/>
        </p:nvSpPr>
        <p:spPr>
          <a:xfrm>
            <a:off x="4526280" y="4956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P19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4581144" y="51755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Import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4581144" y="564184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import{}, -generate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720840" y="495604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6720840" y="495604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1" name="Text 99"/>
          <p:cNvSpPr/>
          <p:nvPr/>
        </p:nvSpPr>
        <p:spPr>
          <a:xfrm>
            <a:off x="6720840" y="4956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P20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775704" y="51755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Provisioners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6775704" y="564184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local-exec, remote-exec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37160" y="600760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37160" y="600760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6" name="Text 104"/>
          <p:cNvSpPr/>
          <p:nvPr/>
        </p:nvSpPr>
        <p:spPr>
          <a:xfrm>
            <a:off x="137160" y="6007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P21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192024" y="622706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moved, check, Conditions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192024" y="669340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moved{}, check{}, pre/post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331720" y="6007608"/>
            <a:ext cx="21031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2331720" y="6007608"/>
            <a:ext cx="21031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1" name="Text 109"/>
          <p:cNvSpPr/>
          <p:nvPr/>
        </p:nvSpPr>
        <p:spPr>
          <a:xfrm>
            <a:off x="2331720" y="6007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P22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2386584" y="622706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Full-Stack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2386584" y="669340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concepts combined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Exam Quick-Fire Tips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4297680" cy="32918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749808"/>
            <a:ext cx="64008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498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.terraform.lock.hcl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COMMIT to Git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749808"/>
            <a:ext cx="4297680" cy="32918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0" y="749808"/>
            <a:ext cx="64008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7498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DO NOT commit — use remote backend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" y="1143000"/>
            <a:ext cx="4297680" cy="32918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" y="1143000"/>
            <a:ext cx="64008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143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~&gt; 5.0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Pessimistic constraint: ≥5.0, &lt;6.0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4297680" cy="32918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1143000"/>
            <a:ext cx="64008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143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-auto-approve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Skips yes/no prompt (CI/CD use)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" y="1536192"/>
            <a:ext cx="4297680" cy="32918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" y="1536192"/>
            <a:ext cx="64008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5361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sensitive=true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Hides in output but NOT in state file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536192"/>
            <a:ext cx="4297680" cy="32918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1536192"/>
            <a:ext cx="64008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5361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-replace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Force recreate (replaces taint)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" y="1929384"/>
            <a:ext cx="4297680" cy="32918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" y="1929384"/>
            <a:ext cx="64008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19293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count.index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Zero-based (first=0)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1929384"/>
            <a:ext cx="4297680" cy="32918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1929384"/>
            <a:ext cx="64008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9293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toset(list)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Convert list to set for for_each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" y="2322576"/>
            <a:ext cx="4297680" cy="32918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" y="2322576"/>
            <a:ext cx="64008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3225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each.key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Map key OR set value in for_each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2322576"/>
            <a:ext cx="4297680" cy="32918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2" name="Shape 30"/>
          <p:cNvSpPr/>
          <p:nvPr/>
        </p:nvSpPr>
        <p:spPr>
          <a:xfrm>
            <a:off x="4617720" y="2322576"/>
            <a:ext cx="64008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3225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Nested blocks (not new resources)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37160" y="2715768"/>
            <a:ext cx="4297680" cy="32918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37160" y="2715768"/>
            <a:ext cx="64008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715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moved {}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Rename without destroy (v1.1+)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2715768"/>
            <a:ext cx="4297680" cy="32918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8" name="Shape 36"/>
          <p:cNvSpPr/>
          <p:nvPr/>
        </p:nvSpPr>
        <p:spPr>
          <a:xfrm>
            <a:off x="4617720" y="2715768"/>
            <a:ext cx="64008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715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{}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Non-fatal warning assertion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37160" y="3108960"/>
            <a:ext cx="4297680" cy="32918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1" name="Shape 39"/>
          <p:cNvSpPr/>
          <p:nvPr/>
        </p:nvSpPr>
        <p:spPr>
          <a:xfrm>
            <a:off x="137160" y="3108960"/>
            <a:ext cx="64008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108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 hash key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Must be LockID (type S) for state lock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3108960"/>
            <a:ext cx="4297680" cy="32918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4" name="Shape 42"/>
          <p:cNvSpPr/>
          <p:nvPr/>
        </p:nvSpPr>
        <p:spPr>
          <a:xfrm>
            <a:off x="4617720" y="3108960"/>
            <a:ext cx="64008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3108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Provisioners</a:t>
            </a:r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Last resort — prefer user_data/SSM/Packer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You're Exam Ready!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 projects + theory = complete Terraform Associate preparation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all 22 projects in order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 every README — theory is as important as code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Practice CLI commands until they're muscle memory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Understand state: what it is, where it lives, how to protect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913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Register: hashicorp.com/certification/terraform-associate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Associate (003) · ~57 questions · 1 hour · ~70% to pass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Associate Exam — Complete Course</dc:title>
  <dc:subject>PptxGenJS Presentation</dc:subject>
  <dc:creator>Terraform Study Course</dc:creator>
  <cp:lastModifiedBy>Terraform Study Course</cp:lastModifiedBy>
  <cp:revision>1</cp:revision>
  <dcterms:created xsi:type="dcterms:W3CDTF">2026-03-11T17:45:45Z</dcterms:created>
  <dcterms:modified xsi:type="dcterms:W3CDTF">2026-03-11T17:45:45Z</dcterms:modified>
</cp:coreProperties>
</file>